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saveSubsetFonts="1">
  <p:sldMasterIdLst>
    <p:sldMasterId id="2147483648" r:id="rId1"/>
  </p:sldMasterIdLst>
  <p:notesMasterIdLst>
    <p:notesMasterId r:id="rId2"/>
  </p:notesMasterIdLst>
  <p:sldIdLst>
    <p:sldId id="256" r:id="rId3"/>
    <p:sldId id="258" r:id="rId4"/>
    <p:sldId id="259" r:id="rId5"/>
    <p:sldId id="260" r:id="rId6"/>
  </p:sldIdLst>
  <p:sldSz type="screen4x3" cy="6858000" cx="9144000"/>
  <p:notesSz cx="6858000" cy="9144000"/>
  <p:defaultTextStyle>
    <a:defPPr>
      <a:defRPr lang="zh-CN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446" y="108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tableStyles" Target="tableStyles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42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43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44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645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algn="ctr" indent="0" marL="0">
              <a:buNone/>
              <a:defRPr sz="2400"/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altLang="zh-CN" lang="en-US" smtClean="0"/>
              <a:t>Click to edit Master subtitle style</a:t>
            </a:r>
            <a:endParaRPr dirty="0" lang="en-US"/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598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59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0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0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614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indent="0" marL="0">
              <a:buNone/>
              <a:defRPr sz="2400">
                <a:solidFill>
                  <a:schemeClr val="tx1"/>
                </a:solidFill>
              </a:defRPr>
            </a:lvl1pPr>
            <a:lvl2pPr indent="0" marL="45720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altLang="zh-CN" lang="en-US" smtClean="0"/>
              <a:t>Click to edit Master text styles</a:t>
            </a:r>
          </a:p>
        </p:txBody>
      </p:sp>
      <p:sp>
        <p:nvSpPr>
          <p:cNvPr id="104861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1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1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619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620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62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2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2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4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625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zh-CN" lang="en-US" smtClean="0"/>
              <a:t>Click to edit Master text styles</a:t>
            </a:r>
          </a:p>
        </p:txBody>
      </p:sp>
      <p:sp>
        <p:nvSpPr>
          <p:cNvPr id="1048626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627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zh-CN" lang="en-US" smtClean="0"/>
              <a:t>Click to edit Master text styles</a:t>
            </a:r>
          </a:p>
        </p:txBody>
      </p:sp>
      <p:sp>
        <p:nvSpPr>
          <p:cNvPr id="1048628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629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30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31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589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590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591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3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3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5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636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637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altLang="zh-CN" lang="en-US" smtClean="0"/>
              <a:t>Click to edit Master text styles</a:t>
            </a:r>
          </a:p>
        </p:txBody>
      </p:sp>
      <p:sp>
        <p:nvSpPr>
          <p:cNvPr id="104863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3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4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603" name="Picture Placeholder 2"/>
          <p:cNvSpPr>
            <a:spLocks noChangeAspect="1"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r>
              <a:rPr altLang="zh-CN" lang="en-US" smtClean="0"/>
              <a:t>Click icon to add picture</a:t>
            </a:r>
            <a:endParaRPr dirty="0" lang="en-US"/>
          </a:p>
        </p:txBody>
      </p:sp>
      <p:sp>
        <p:nvSpPr>
          <p:cNvPr id="104860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altLang="zh-CN" lang="en-US" smtClean="0"/>
              <a:t>Click to edit Master text styles</a:t>
            </a:r>
          </a:p>
        </p:txBody>
      </p:sp>
      <p:sp>
        <p:nvSpPr>
          <p:cNvPr id="104860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0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0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609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6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59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59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59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59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altLang="en-US" lang="zh-CN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7" name=""/>
          <p:cNvSpPr txBox="1"/>
          <p:nvPr/>
        </p:nvSpPr>
        <p:spPr>
          <a:xfrm>
            <a:off x="566053" y="1677043"/>
            <a:ext cx="8345939" cy="2231135"/>
          </a:xfrm>
          <a:prstGeom prst="rect"/>
        </p:spPr>
        <p:txBody>
          <a:bodyPr rtlCol="0" wrap="square">
            <a:spAutoFit/>
          </a:bodyPr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b="1" sz="4400" i="0" kern="100" lang="en-ID">
                <a:solidFill>
                  <a:srgbClr val="000000"/>
                </a:solidFill>
                <a:latin typeface="Aptos"/>
                <a:ea typeface="Aptos"/>
                <a:cs typeface="宋体"/>
              </a:rPr>
              <a:t>Mirasol Dental Clinic Appointment App with SMS notification</a:t>
            </a:r>
            <a:r>
              <a:rPr b="1" sz="4400" i="0" kern="100" lang="en-ID">
                <a:solidFill>
                  <a:srgbClr val="000000"/>
                </a:solidFill>
                <a:latin typeface="Aptos"/>
                <a:ea typeface="Aptos"/>
                <a:cs typeface="宋体"/>
              </a:rPr>
              <a:t> </a:t>
            </a:r>
            <a:endParaRPr b="1" sz="1100" i="0" kern="100" lang="en-ID">
              <a:solidFill>
                <a:srgbClr val="000000"/>
              </a:solidFill>
              <a:latin typeface="Aptos"/>
              <a:ea typeface="Aptos"/>
              <a:cs typeface="宋体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"/>
          <p:cNvSpPr txBox="1"/>
          <p:nvPr/>
        </p:nvSpPr>
        <p:spPr>
          <a:xfrm>
            <a:off x="0" y="166109"/>
            <a:ext cx="4572000" cy="751839"/>
          </a:xfrm>
          <a:prstGeom prst="rect"/>
        </p:spPr>
        <p:txBody>
          <a:bodyPr rtlCol="0" wrap="square">
            <a:spAutoFit/>
          </a:bodyPr>
          <a:p>
            <a:r>
              <a:rPr b="1" sz="4400" i="0" kern="100" lang="en-ID">
                <a:solidFill>
                  <a:srgbClr val="000000"/>
                </a:solidFill>
                <a:latin typeface="Aptos"/>
                <a:ea typeface="Aptos"/>
                <a:cs typeface="宋体"/>
              </a:rPr>
              <a:t>Problems</a:t>
            </a:r>
            <a:endParaRPr b="1" sz="1100" i="0" kern="100" lang="en-ID">
              <a:solidFill>
                <a:srgbClr val="000000"/>
              </a:solidFill>
              <a:latin typeface="Aptos"/>
              <a:ea typeface="Aptos"/>
              <a:cs typeface="宋体"/>
            </a:endParaRPr>
          </a:p>
        </p:txBody>
      </p:sp>
      <p:sp>
        <p:nvSpPr>
          <p:cNvPr id="1048651" name=""/>
          <p:cNvSpPr txBox="1"/>
          <p:nvPr/>
        </p:nvSpPr>
        <p:spPr>
          <a:xfrm>
            <a:off x="1749499" y="785364"/>
            <a:ext cx="6838517" cy="2186939"/>
          </a:xfrm>
          <a:prstGeom prst="rect"/>
        </p:spPr>
        <p:txBody>
          <a:bodyPr rtlCol="0" wrap="square">
            <a:spAutoFit/>
          </a:bodyPr>
          <a:p>
            <a:pPr indent="-342900" marL="342900">
              <a:buFont typeface="Arial"/>
              <a:buChar char="•"/>
            </a:pPr>
            <a:r>
              <a:rPr b="1" sz="2800" i="0" kern="100" lang="en-ID">
                <a:solidFill>
                  <a:srgbClr val="000000"/>
                </a:solidFill>
                <a:latin typeface="Aptos"/>
                <a:ea typeface="Aptos"/>
                <a:cs typeface="宋体"/>
              </a:rPr>
              <a:t>T</a:t>
            </a:r>
            <a:r>
              <a:rPr b="1" sz="2800" i="0" kern="100" lang="en-ID">
                <a:solidFill>
                  <a:srgbClr val="000000"/>
                </a:solidFill>
                <a:latin typeface="Aptos"/>
                <a:ea typeface="Aptos"/>
                <a:cs typeface="宋体"/>
              </a:rPr>
              <a:t>he staff manually records clients' information and appointment details, which often leads to errors, such as misspellings, and consumes significant time</a:t>
            </a:r>
            <a:endParaRPr b="1" sz="1100" i="0" kern="100" lang="en-ID">
              <a:solidFill>
                <a:srgbClr val="000000"/>
              </a:solidFill>
              <a:latin typeface="Aptos"/>
              <a:ea typeface="Aptos"/>
              <a:cs typeface="宋体"/>
            </a:endParaRPr>
          </a:p>
        </p:txBody>
      </p:sp>
      <p:sp>
        <p:nvSpPr>
          <p:cNvPr id="1048652" name=""/>
          <p:cNvSpPr txBox="1"/>
          <p:nvPr/>
        </p:nvSpPr>
        <p:spPr>
          <a:xfrm>
            <a:off x="1500976" y="3147310"/>
            <a:ext cx="6662156" cy="1348740"/>
          </a:xfrm>
          <a:prstGeom prst="rect"/>
        </p:spPr>
        <p:txBody>
          <a:bodyPr rtlCol="0" wrap="square">
            <a:spAutoFit/>
          </a:bodyPr>
          <a:p>
            <a:pPr indent="-457200" marL="457200">
              <a:buFont typeface="Arial"/>
              <a:buChar char="•"/>
            </a:pPr>
            <a:r>
              <a:rPr b="1" sz="2800" i="0" kern="100" lang="en-ID">
                <a:solidFill>
                  <a:srgbClr val="000000"/>
                </a:solidFill>
                <a:latin typeface="Aptos"/>
                <a:ea typeface="Aptos"/>
                <a:cs typeface="宋体"/>
              </a:rPr>
              <a:t>T</a:t>
            </a:r>
            <a:r>
              <a:rPr b="1" sz="2800" i="0" kern="100" lang="en-ID">
                <a:solidFill>
                  <a:srgbClr val="000000"/>
                </a:solidFill>
                <a:latin typeface="Aptos"/>
                <a:ea typeface="Aptos"/>
                <a:cs typeface="宋体"/>
              </a:rPr>
              <a:t>he staff experiences difficulties in monitoring patient follow-up schedules and ongoing treatments</a:t>
            </a:r>
            <a:endParaRPr b="1" sz="1100" i="0" kern="100" lang="en-ID">
              <a:solidFill>
                <a:srgbClr val="000000"/>
              </a:solidFill>
              <a:latin typeface="Aptos"/>
              <a:ea typeface="Aptos"/>
              <a:cs typeface="宋体"/>
            </a:endParaRPr>
          </a:p>
        </p:txBody>
      </p:sp>
      <p:sp>
        <p:nvSpPr>
          <p:cNvPr id="1048653" name=""/>
          <p:cNvSpPr txBox="1"/>
          <p:nvPr/>
        </p:nvSpPr>
        <p:spPr>
          <a:xfrm>
            <a:off x="1500977" y="4671060"/>
            <a:ext cx="6403398" cy="2186939"/>
          </a:xfrm>
          <a:prstGeom prst="rect"/>
        </p:spPr>
        <p:txBody>
          <a:bodyPr rtlCol="0" wrap="square">
            <a:spAutoFit/>
          </a:bodyPr>
          <a:p>
            <a:pPr indent="-457200" marL="457200">
              <a:buFont typeface="Arial"/>
              <a:buChar char="•"/>
            </a:pPr>
            <a:r>
              <a:rPr b="1" sz="2800" i="0" kern="100" lang="en-ID">
                <a:solidFill>
                  <a:srgbClr val="000000"/>
                </a:solidFill>
                <a:latin typeface="Aptos"/>
                <a:ea typeface="Aptos"/>
                <a:cs typeface="宋体"/>
              </a:rPr>
              <a:t>In a busy dental clinic, patients may have to wait a long time to get an appointment due to overbooked schedules or lack of available time slots</a:t>
            </a:r>
            <a:r>
              <a:rPr b="1" sz="2800" i="0" kern="100" lang="en-ID">
                <a:solidFill>
                  <a:srgbClr val="000000"/>
                </a:solidFill>
                <a:latin typeface="Aptos"/>
                <a:ea typeface="Aptos"/>
                <a:cs typeface="宋体"/>
              </a:rPr>
              <a:t>.</a:t>
            </a:r>
            <a:endParaRPr b="1" sz="1100" i="0" kern="100" lang="en-ID">
              <a:solidFill>
                <a:srgbClr val="000000"/>
              </a:solidFill>
              <a:latin typeface="Aptos"/>
              <a:ea typeface="Aptos"/>
              <a:cs typeface="宋体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6" name=""/>
          <p:cNvSpPr txBox="1"/>
          <p:nvPr/>
        </p:nvSpPr>
        <p:spPr>
          <a:xfrm>
            <a:off x="0" y="200052"/>
            <a:ext cx="4572000" cy="624839"/>
          </a:xfrm>
          <a:prstGeom prst="rect"/>
        </p:spPr>
        <p:txBody>
          <a:bodyPr rtlCol="0" wrap="square">
            <a:spAutoFit/>
          </a:bodyPr>
          <a:p>
            <a:r>
              <a:rPr b="1" sz="3600" i="0" kern="100" lang="en-ID">
                <a:solidFill>
                  <a:srgbClr val="000000"/>
                </a:solidFill>
                <a:latin typeface="Aptos"/>
                <a:ea typeface="Aptos"/>
                <a:cs typeface="宋体"/>
              </a:rPr>
              <a:t>Modern Problem:</a:t>
            </a:r>
            <a:endParaRPr b="1" sz="1100" i="0" kern="100" lang="en-ID">
              <a:solidFill>
                <a:srgbClr val="000000"/>
              </a:solidFill>
              <a:latin typeface="Aptos"/>
              <a:ea typeface="Aptos"/>
              <a:cs typeface="宋体"/>
            </a:endParaRPr>
          </a:p>
        </p:txBody>
      </p:sp>
      <p:sp>
        <p:nvSpPr>
          <p:cNvPr id="1048659" name=""/>
          <p:cNvSpPr txBox="1"/>
          <p:nvPr/>
        </p:nvSpPr>
        <p:spPr>
          <a:xfrm>
            <a:off x="357493" y="1578580"/>
            <a:ext cx="8429014" cy="4714240"/>
          </a:xfrm>
          <a:prstGeom prst="rect"/>
        </p:spPr>
        <p:txBody>
          <a:bodyPr rtlCol="0" wrap="square">
            <a:spAutoFit/>
          </a:bodyPr>
          <a:p>
            <a:pPr indent="-171450" marL="171450">
              <a:buFont typeface="Arial"/>
              <a:buChar char="•"/>
            </a:pPr>
            <a:r>
              <a:rPr b="1" sz="4400" i="0" kern="100" lang="en-ID">
                <a:solidFill>
                  <a:srgbClr val="000000"/>
                </a:solidFill>
                <a:latin typeface="Aptos"/>
                <a:ea typeface="Aptos"/>
                <a:cs typeface="宋体"/>
              </a:rPr>
              <a:t>If a patient needs to reschedule or cancel an appointment, there may not be an easy way to do so without going through a cumbersome process, resulting in frustration or missed opportunities to fill the time slot.</a:t>
            </a:r>
            <a:endParaRPr b="1" sz="1100" i="0" kern="100" lang="en-ID">
              <a:solidFill>
                <a:srgbClr val="000000"/>
              </a:solidFill>
              <a:latin typeface="Aptos"/>
              <a:ea typeface="Aptos"/>
              <a:cs typeface="宋体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3" name=""/>
          <p:cNvSpPr txBox="1"/>
          <p:nvPr/>
        </p:nvSpPr>
        <p:spPr>
          <a:xfrm>
            <a:off x="286000" y="220991"/>
            <a:ext cx="4572000" cy="688339"/>
          </a:xfrm>
          <a:prstGeom prst="rect"/>
        </p:spPr>
        <p:txBody>
          <a:bodyPr rtlCol="0" wrap="square">
            <a:spAutoFit/>
          </a:bodyPr>
          <a:p>
            <a:r>
              <a:rPr b="1" sz="4000" i="0" kern="100" lang="en-ID">
                <a:solidFill>
                  <a:srgbClr val="000000"/>
                </a:solidFill>
                <a:latin typeface="Aptos"/>
                <a:ea typeface="Aptos"/>
                <a:cs typeface="宋体"/>
              </a:rPr>
              <a:t>Reason:</a:t>
            </a:r>
            <a:endParaRPr b="1" sz="1100" i="0" kern="100" lang="en-ID">
              <a:solidFill>
                <a:srgbClr val="000000"/>
              </a:solidFill>
              <a:latin typeface="Aptos"/>
              <a:ea typeface="Aptos"/>
              <a:cs typeface="宋体"/>
            </a:endParaRPr>
          </a:p>
        </p:txBody>
      </p:sp>
      <p:sp>
        <p:nvSpPr>
          <p:cNvPr id="1048665" name=""/>
          <p:cNvSpPr txBox="1"/>
          <p:nvPr/>
        </p:nvSpPr>
        <p:spPr>
          <a:xfrm>
            <a:off x="266267" y="909330"/>
            <a:ext cx="8637445" cy="5539740"/>
          </a:xfrm>
          <a:prstGeom prst="rect"/>
        </p:spPr>
        <p:txBody>
          <a:bodyPr rtlCol="0" wrap="square">
            <a:spAutoFit/>
          </a:bodyPr>
          <a:p>
            <a:r>
              <a:rPr b="1" sz="2800" i="0" kern="100" lang="en-ID">
                <a:solidFill>
                  <a:srgbClr val="000000"/>
                </a:solidFill>
                <a:latin typeface="Aptos"/>
                <a:ea typeface="Aptos"/>
                <a:cs typeface="宋体"/>
              </a:rPr>
              <a:t>The physical appointment process at a dental clinic can be complicated due to factors such as appointment availability, wait times, communication issues, and operational inefficiencies.</a:t>
            </a:r>
            <a:r>
              <a:rPr b="1" sz="2800" i="0" kern="100" lang="en-ID">
                <a:solidFill>
                  <a:srgbClr val="000000"/>
                </a:solidFill>
                <a:latin typeface="Aptos"/>
                <a:ea typeface="Aptos"/>
                <a:cs typeface="宋体"/>
              </a:rPr>
              <a:t> By developing this, both dental clinic and clients can benefit in this application. T</a:t>
            </a:r>
            <a:r>
              <a:rPr b="1" sz="2800" i="0" kern="100" lang="en-ID">
                <a:solidFill>
                  <a:srgbClr val="000000"/>
                </a:solidFill>
                <a:latin typeface="Aptos"/>
                <a:ea typeface="Aptos"/>
                <a:cs typeface="宋体"/>
              </a:rPr>
              <a:t>he title clearly communicates that this is an appointment app specifically for Mirasol Dental Clinic, ensuring users immediately understand its purpose. The inclusion of SMS notifications highlights a key feature that enhances user experience by keeping patients informed with appointment reminders, confirmations, and updates via a reliable and accessible medium.</a:t>
            </a:r>
            <a:endParaRPr b="1" sz="1100" i="0" kern="100" lang="en-ID">
              <a:solidFill>
                <a:srgbClr val="000000"/>
              </a:solidFill>
              <a:latin typeface="Aptos"/>
              <a:ea typeface="Aptos"/>
              <a:cs typeface="宋体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WPS Office</Application>
  <ScaleCrop>0</ScaleCrop>
  <LinksUpToDate>0</LinksUpToDate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MED-LX9</dc:creator>
  <dcterms:created xsi:type="dcterms:W3CDTF">2015-05-11T17:30:45Z</dcterms:created>
  <dcterms:modified xsi:type="dcterms:W3CDTF">2025-05-21T22:16:34Z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970327f6d60c4820add7f36e1e69b089</vt:lpwstr>
  </property>
</Properties>
</file>